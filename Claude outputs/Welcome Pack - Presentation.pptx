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[Client], [Account Lead name] and the start date. Send the pack within 24 hours of the countersigned contract, together with the Slack channel invite. Open with the welcome in your own words: thank them, and say in one sentence what you're setting out to achieve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every person who will touch the account and add a photo for each (right-click the grey circle and replace it with a picture). Delete any role that isn't on this account — the HubSpot Specialist is usually for CRM clients only. If you remove cards, re-space the remaining ones evenly.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Retention &amp; Lifecycle Email. Swap the bullets for the service lines this client bought, straight from the signed scope — numbers, not adjectives.
HubSpot &amp; CRM — Included: Growth Audit (adoption weighted most); portal configuration; process design with your sales leader; data migration up to [x] records; up to [x] workflows and dashboards; onboarding for up to [x] reps. Not included: HubSpot licence fees; custom code beyond the scope.
Meta — Included: Growth Audit; account restructure; pixel and Conversions API fixes; [x] new ads a month; audience and budget management. Not included: ad spend (paid to Meta); creator fees, shoots and landing pages.
Sales Team Integration (Tier 1) — Included: Growth Audit from real calls; review of [x] recorded calls; new call structure and objection library; [x] coaching sessions; Day 30 decision. Not included: Tiers 2 and 3 (separate decisions); recruitment, dialler or CRM fees.
Project work — Included: Technical Scoping Document; [deliverables]; milestone schedule with approval points; [14] days' support after launch. Not included: ongoing maintenance, hosting and subscriptions; changes after sign-off (quoted as change requests).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month-one line out loud — it sets expectations before anyone looks for lift. Meta clients: add that the goal for the first 30 days is to maintain current performance while the learning phase runs. Put real dates against each step when you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date with a real one before presenting. Check that none of these asks for something we could find ourselves. Stage 1 access goes out on Day 2 and stage 2 on Day 4 — never alongside the questionnaire.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channel name, the Account Lead, and the Director's name and email. Mention meeting cadence here too: kickoff in weeks 2–3, then [a fortnightly performance call], with Growth Audit re-scores at Day 60 and Day 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exactly one action. Replace the channel name and both names. If the client has already joined the channel, change this to their next single action — usually stage 1 access by [Day 4 date].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463040"/>
            <a:ext cx="3931920" cy="3931920"/>
          </a:xfrm>
          <a:prstGeom prst="ellipse">
            <a:avLst/>
          </a:prstGeom>
          <a:solidFill>
            <a:srgbClr val="0A0C19"/>
          </a:solidFill>
          <a:ln w="279400">
            <a:solidFill>
              <a:srgbClr val="1E24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463040"/>
            <a:ext cx="3931920" cy="3931920"/>
          </a:xfrm>
          <a:prstGeom prst="arc">
            <a:avLst>
              <a:gd name="adj1" fmla="val 8400000"/>
              <a:gd name="adj2" fmla="val 13200000"/>
            </a:avLst>
          </a:prstGeom>
          <a:solidFill>
            <a:srgbClr val="0A0C19">
              <a:alpha val="0"/>
            </a:srgbClr>
          </a:solidFill>
          <a:ln w="279400">
            <a:solidFill>
              <a:srgbClr val="0094FF"/>
            </a:solidFill>
            <a:prstDash val="solid"/>
          </a:ln>
        </p:spPr>
      </p:sp>
      <p:pic>
        <p:nvPicPr>
          <p:cNvPr id="4" name="Image 0" descr="/home/claude/work/deck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194560" cy="1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C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ONBOARDING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Welcome to Opes, </a:t>
            </a:r>
            <a:pPr indent="0" marL="0">
              <a:buNone/>
            </a:pPr>
            <a:r>
              <a:rPr lang="en-US" sz="5400" dirty="0">
                <a:solidFill>
                  <a:srgbClr val="5CC6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[Client]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first three weeks: who's on your team, what happens next, and the one thing to do today.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[Account Lead name]</a:t>
            </a:r>
            <a:pPr indent="0" marL="0">
              <a:buNone/>
            </a:pPr>
            <a:r>
              <a:rPr lang="en-US" sz="13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·  Account Lead  ·  Starting </a:t>
            </a:r>
            <a:pPr indent="0" marL="0">
              <a:buNone/>
            </a:pPr>
            <a:r>
              <a:rPr lang="en-US" sz="1300" dirty="0">
                <a:solidFill>
                  <a:srgbClr val="5C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37360" cy="1384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180015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 /  07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Your team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727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Everyone who works on your account is named here. Nobody new joins without an introduction.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2578608"/>
            <a:ext cx="960120" cy="960120"/>
          </a:xfrm>
          <a:prstGeom prst="ellipse">
            <a:avLst/>
          </a:prstGeom>
          <a:solidFill>
            <a:srgbClr val="DDE4ED"/>
          </a:solidFill>
          <a:ln w="12700">
            <a:solidFill>
              <a:srgbClr val="DDE4E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852928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4672" y="374904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[Name]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4133088"/>
            <a:ext cx="1624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 LEAD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04672" y="4617720"/>
            <a:ext cx="157880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main contact. Owns your plan, your results and anything that gets stuck.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813243" y="228600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69275" y="2578608"/>
            <a:ext cx="960120" cy="960120"/>
          </a:xfrm>
          <a:prstGeom prst="ellipse">
            <a:avLst/>
          </a:prstGeom>
          <a:solidFill>
            <a:srgbClr val="DDE4ED"/>
          </a:solidFill>
          <a:ln w="12700">
            <a:solidFill>
              <a:srgbClr val="DDE4E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595" y="285292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069275" y="374904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[Name]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069275" y="4133088"/>
            <a:ext cx="1624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STRATEGIST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3069275" y="4617720"/>
            <a:ext cx="157880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your Growth Audit, builds your 90-day plan and decides what we test.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77846" y="228600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333878" y="2578608"/>
            <a:ext cx="960120" cy="960120"/>
          </a:xfrm>
          <a:prstGeom prst="ellipse">
            <a:avLst/>
          </a:prstGeom>
          <a:solidFill>
            <a:srgbClr val="DDE4ED"/>
          </a:solidFill>
          <a:ln w="12700">
            <a:solidFill>
              <a:srgbClr val="DDE4E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198" y="285292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33878" y="374904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[Name]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333878" y="4133088"/>
            <a:ext cx="1624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 COORDINATOR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5333878" y="4617720"/>
            <a:ext cx="157880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up your access, keeps work moving and drafts your Thursday update.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342449" y="228600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598481" y="2578608"/>
            <a:ext cx="960120" cy="960120"/>
          </a:xfrm>
          <a:prstGeom prst="ellipse">
            <a:avLst/>
          </a:prstGeom>
          <a:solidFill>
            <a:srgbClr val="DDE4ED"/>
          </a:solidFill>
          <a:ln w="12700">
            <a:solidFill>
              <a:srgbClr val="DDE4E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801" y="285292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598481" y="374904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[Name]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7598481" y="4133088"/>
            <a:ext cx="1624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HUBSPOT SPECIALIST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7598481" y="4617720"/>
            <a:ext cx="157880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Configures your HubSpot portal, workflows and reporting.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9607052" y="228600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863084" y="2578608"/>
            <a:ext cx="960120" cy="960120"/>
          </a:xfrm>
          <a:prstGeom prst="ellipse">
            <a:avLst/>
          </a:prstGeom>
          <a:solidFill>
            <a:srgbClr val="DDE4ED"/>
          </a:solidFill>
          <a:ln w="12700">
            <a:solidFill>
              <a:srgbClr val="DDE4E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7404" y="2852928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863084" y="374904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[Name]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9863084" y="4133088"/>
            <a:ext cx="16245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INTEGRATIONS SPECIALIST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9863084" y="4617720"/>
            <a:ext cx="157880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your systems and keeps credentials secure.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37360" cy="1384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180015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 /  07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you've bought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727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What's included, what isn't, and how revisions work — so there are no surprises later.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6903720" cy="3246120"/>
          </a:xfrm>
          <a:prstGeom prst="roundRect">
            <a:avLst>
              <a:gd name="adj" fmla="val 3380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3054096"/>
            <a:ext cx="274320" cy="27432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10896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30175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Growth Audit: scored out of 100, target 90 by month three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14400" y="3529584"/>
            <a:ext cx="274320" cy="27432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58444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49300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 authentication and a list clean-up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914400" y="4005072"/>
            <a:ext cx="274320" cy="27432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059936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71600" y="396849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 to </a:t>
            </a:r>
            <a:pPr indent="0" marL="0">
              <a:buNone/>
            </a:pPr>
            <a:r>
              <a:rPr lang="en-US" sz="150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[3]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core and </a:t>
            </a:r>
            <a:pPr indent="0" marL="0">
              <a:buNone/>
            </a:pPr>
            <a:r>
              <a:rPr lang="en-US" sz="150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[3]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secondary flows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914400" y="4480560"/>
            <a:ext cx="274320" cy="27432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535424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71600" y="444398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 to </a:t>
            </a:r>
            <a:pPr indent="0" marL="0">
              <a:buNone/>
            </a:pPr>
            <a:r>
              <a:rPr lang="en-US" sz="150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[8]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campaigns a month, planned and written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914400" y="4956048"/>
            <a:ext cx="274320" cy="27432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010912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371600" y="491947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weekly update every Thursday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7726680" y="2286000"/>
            <a:ext cx="3916375" cy="3246120"/>
          </a:xfrm>
          <a:prstGeom prst="roundRect">
            <a:avLst>
              <a:gd name="adj" fmla="val 3380"/>
            </a:avLst>
          </a:prstGeom>
          <a:solidFill>
            <a:srgbClr val="F8FAFC"/>
          </a:solidFill>
          <a:ln w="12700">
            <a:solidFill>
              <a:srgbClr val="DDE4ED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09244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INCLUDED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8092440" y="3072384"/>
            <a:ext cx="274320" cy="274320"/>
          </a:xfrm>
          <a:prstGeom prst="ellipse">
            <a:avLst/>
          </a:prstGeom>
          <a:solidFill>
            <a:srgbClr val="DDE4ED"/>
          </a:solidFill>
          <a:ln w="12700">
            <a:solidFill>
              <a:srgbClr val="DDE4ED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3127248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549640" y="3017520"/>
            <a:ext cx="2819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 and SMS platform fees, paid directly by you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8092440" y="3785616"/>
            <a:ext cx="274320" cy="274320"/>
          </a:xfrm>
          <a:prstGeom prst="ellipse">
            <a:avLst/>
          </a:prstGeom>
          <a:solidFill>
            <a:srgbClr val="DDE4ED"/>
          </a:solidFill>
          <a:ln w="12700">
            <a:solidFill>
              <a:srgbClr val="DDE4ED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304" y="3840480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549640" y="3730752"/>
            <a:ext cx="2819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Paid ads, web development and photography</a:t>
            </a:r>
            <a:endParaRPr lang="en-US" sz="1400" dirty="0"/>
          </a:p>
        </p:txBody>
      </p:sp>
      <p:sp>
        <p:nvSpPr>
          <p:cNvPr id="31" name="Text 21"/>
          <p:cNvSpPr txBox="1"/>
          <p:nvPr/>
        </p:nvSpPr>
        <p:spPr>
          <a:xfrm>
            <a:off x="809244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REVISIONS</a:t>
            </a:r>
            <a:endParaRPr lang="en-US" sz="1100" dirty="0"/>
          </a:p>
        </p:txBody>
      </p:sp>
      <p:sp>
        <p:nvSpPr>
          <p:cNvPr id="32" name="Text 22"/>
          <p:cNvSpPr txBox="1"/>
          <p:nvPr/>
        </p:nvSpPr>
        <p:spPr>
          <a:xfrm>
            <a:off x="8092440" y="4828032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 to </a:t>
            </a:r>
            <a:pPr indent="0" marL="0">
              <a:buNone/>
            </a:pPr>
            <a:r>
              <a:rPr lang="en-US" sz="140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[2]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rounds per email or flow</a:t>
            </a:r>
            <a:endParaRPr lang="en-US" sz="14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5870448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914400" y="581558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Anything outside this scope is quoted separately, with a price and a date. Nothing is added without your written approval.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37360" cy="1384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180015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 /  07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happens next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276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77C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Month one is about stability and fixing foundations. We target improvement from month two.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371600" y="3429000"/>
            <a:ext cx="9448495" cy="0"/>
          </a:xfrm>
          <a:prstGeom prst="line">
            <a:avLst/>
          </a:prstGeom>
          <a:noFill/>
          <a:ln w="38100">
            <a:solidFill>
              <a:srgbClr val="DDE4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88136" y="3145536"/>
            <a:ext cx="566928" cy="566928"/>
          </a:xfrm>
          <a:prstGeom prst="ellipse">
            <a:avLst/>
          </a:prstGeom>
          <a:solidFill>
            <a:srgbClr val="0094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88136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Welcome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72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pack and your Slack invite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977835" y="3145536"/>
            <a:ext cx="566928" cy="566928"/>
          </a:xfrm>
          <a:prstGeom prst="ellipse">
            <a:avLst/>
          </a:prstGeom>
          <a:solidFill>
            <a:srgbClr val="0A0C1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77835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438339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DAYS 2–4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438339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Access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2438339" y="4572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short stages, each with a reason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867534" y="3145536"/>
            <a:ext cx="566928" cy="566928"/>
          </a:xfrm>
          <a:prstGeom prst="ellipse">
            <a:avLst/>
          </a:prstGeom>
          <a:solidFill>
            <a:srgbClr val="0A0C1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67534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328038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5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328038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Questionnaire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4328038" y="4572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 20 minutes, sent on its own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757233" y="3145536"/>
            <a:ext cx="566928" cy="566928"/>
          </a:xfrm>
          <a:prstGeom prst="ellipse">
            <a:avLst/>
          </a:prstGeom>
          <a:solidFill>
            <a:srgbClr val="0A0C1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57233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217737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DAYS 10–14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217737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Growth Audit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6217737" y="4572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baseline score, and the path to 90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646932" y="3145536"/>
            <a:ext cx="566928" cy="566928"/>
          </a:xfrm>
          <a:prstGeom prst="ellipse">
            <a:avLst/>
          </a:prstGeom>
          <a:solidFill>
            <a:srgbClr val="0A0C1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6932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107436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2–3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107436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Kickoff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8107436" y="4572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 minutes with your decision-maker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10536631" y="3145536"/>
            <a:ext cx="566928" cy="566928"/>
          </a:xfrm>
          <a:prstGeom prst="ellipse">
            <a:avLst/>
          </a:prstGeom>
          <a:solidFill>
            <a:srgbClr val="0A0C1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536631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9997135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WITHIN 24 HOURS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997135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Your plan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9997135" y="4572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written recap and your 90-day plan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548640" y="568756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843016"/>
            <a:ext cx="256032" cy="256032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234440" y="56875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Thursday from week 1: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short update in #</a:t>
            </a:r>
            <a:pPr indent="0" marL="0">
              <a:buNone/>
            </a:pPr>
            <a:r>
              <a:rPr lang="en-US" sz="140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[client]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-opes — what we did, what we learned, what's next.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37360" cy="1384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180015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 /  07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we need from you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727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things over the next two weeks, spaced out on purpose.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377440"/>
            <a:ext cx="365760" cy="365760"/>
          </a:xfrm>
          <a:prstGeom prst="ellipse">
            <a:avLst/>
          </a:prstGeom>
          <a:solidFill>
            <a:srgbClr val="EACF99"/>
          </a:solidFill>
          <a:ln w="12700">
            <a:solidFill>
              <a:srgbClr val="EACF9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Accept your Slack invite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</a:t>
            </a:r>
            <a:pPr indent="0" marL="0">
              <a:buNone/>
            </a:pPr>
            <a:r>
              <a:rPr lang="en-US" sz="135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[Day 1 date]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2240280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 every conversation and approval lives in one place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990088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3127248"/>
            <a:ext cx="365760" cy="365760"/>
          </a:xfrm>
          <a:prstGeom prst="ellipse">
            <a:avLst/>
          </a:prstGeom>
          <a:solidFill>
            <a:srgbClr val="EACF99"/>
          </a:solidFill>
          <a:ln w="12700">
            <a:solidFill>
              <a:srgbClr val="EACF9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990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Stage 1 access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29900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</a:t>
            </a:r>
            <a:pPr indent="0" marL="0">
              <a:buNone/>
            </a:pPr>
            <a:r>
              <a:rPr lang="en-US" sz="135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[Day 4 date]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2990088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Growth Audit can't start without it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739896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3877056"/>
            <a:ext cx="365760" cy="365760"/>
          </a:xfrm>
          <a:prstGeom prst="ellipse">
            <a:avLst/>
          </a:prstGeom>
          <a:solidFill>
            <a:srgbClr val="EACF99"/>
          </a:solidFill>
          <a:ln w="12700">
            <a:solidFill>
              <a:srgbClr val="EACF9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73989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intake questionnaire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37398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</a:t>
            </a:r>
            <a:pPr indent="0" marL="0">
              <a:buNone/>
            </a:pPr>
            <a:r>
              <a:rPr lang="en-US" sz="135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[Day 8 date]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3739896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 kickoff is spent on decisions, not questions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4489704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9808" y="4626864"/>
            <a:ext cx="365760" cy="365760"/>
          </a:xfrm>
          <a:prstGeom prst="ellipse">
            <a:avLst/>
          </a:prstGeom>
          <a:solidFill>
            <a:srgbClr val="EACF99"/>
          </a:solidFill>
          <a:ln w="12700">
            <a:solidFill>
              <a:srgbClr val="EACF9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44897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Stage 2 access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448970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</a:t>
            </a:r>
            <a:pPr indent="0" marL="0">
              <a:buNone/>
            </a:pPr>
            <a:r>
              <a:rPr lang="en-US" sz="135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[Day 10 date]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4489704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completes the picture for our first builds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48640" y="5239512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9808" y="5376672"/>
            <a:ext cx="365760" cy="365760"/>
          </a:xfrm>
          <a:prstGeom prst="ellipse">
            <a:avLst/>
          </a:prstGeom>
          <a:solidFill>
            <a:srgbClr val="EACF99"/>
          </a:solidFill>
          <a:ln w="12700">
            <a:solidFill>
              <a:srgbClr val="EACF9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5376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325880" y="52395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C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decision-maker at kickoff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394960" y="523951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2E1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</a:t>
            </a:r>
            <a:pPr indent="0" marL="0">
              <a:buNone/>
            </a:pPr>
            <a:r>
              <a:rPr lang="en-US" sz="1350" b="1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[Day 10 date]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7406640" y="5239512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they can't make it, we'll move the date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37360" cy="13847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180015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 /  07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How we'll work together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7276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rules, so you always know where things stand.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2602154" cy="2606040"/>
          </a:xfrm>
          <a:prstGeom prst="roundRect">
            <a:avLst>
              <a:gd name="adj" fmla="val 4217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2532888"/>
            <a:ext cx="548640" cy="54864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6700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" y="3227832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Slack</a:t>
            </a:r>
            <a:endParaRPr lang="en-US" sz="310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39319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shared channel for everything: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</a:t>
            </a:r>
            <a:pPr indent="0" marL="0">
              <a:buNone/>
            </a:pPr>
            <a:r>
              <a:rPr lang="en-US" sz="1350" dirty="0">
                <a:solidFill>
                  <a:srgbClr val="0077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[client]</a:t>
            </a:r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-opes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379394" y="2240280"/>
            <a:ext cx="2602154" cy="2606040"/>
          </a:xfrm>
          <a:prstGeom prst="roundRect">
            <a:avLst>
              <a:gd name="adj" fmla="val 4217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72002" y="2532888"/>
            <a:ext cx="548640" cy="54864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162" y="267004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72002" y="3227832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Thursday</a:t>
            </a:r>
            <a:endParaRPr lang="en-US" sz="3100" dirty="0"/>
          </a:p>
        </p:txBody>
      </p:sp>
      <p:sp>
        <p:nvSpPr>
          <p:cNvPr id="15" name="Text 10"/>
          <p:cNvSpPr txBox="1"/>
          <p:nvPr/>
        </p:nvSpPr>
        <p:spPr>
          <a:xfrm>
            <a:off x="3672002" y="39319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weekly update, every week — news or not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10148" y="2240280"/>
            <a:ext cx="2602154" cy="2606040"/>
          </a:xfrm>
          <a:prstGeom prst="roundRect">
            <a:avLst>
              <a:gd name="adj" fmla="val 4217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02756" y="2532888"/>
            <a:ext cx="548640" cy="54864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916" y="267004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02756" y="3227832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 hours</a:t>
            </a:r>
            <a:endParaRPr lang="en-US" sz="3100" dirty="0"/>
          </a:p>
        </p:txBody>
      </p:sp>
      <p:sp>
        <p:nvSpPr>
          <p:cNvPr id="20" name="Text 14"/>
          <p:cNvSpPr txBox="1"/>
          <p:nvPr/>
        </p:nvSpPr>
        <p:spPr>
          <a:xfrm>
            <a:off x="6502756" y="39319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first response, Monday to Friday, 9am–5pm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040901" y="2240280"/>
            <a:ext cx="2602154" cy="2606040"/>
          </a:xfrm>
          <a:prstGeom prst="roundRect">
            <a:avLst>
              <a:gd name="adj" fmla="val 4217"/>
            </a:avLst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333509" y="2532888"/>
            <a:ext cx="548640" cy="54864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0669" y="267004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333509" y="3227832"/>
            <a:ext cx="2144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A0C1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48 hours</a:t>
            </a:r>
            <a:endParaRPr lang="en-US" sz="3100" dirty="0"/>
          </a:p>
        </p:txBody>
      </p:sp>
      <p:sp>
        <p:nvSpPr>
          <p:cNvPr id="25" name="Text 18"/>
          <p:cNvSpPr txBox="1"/>
          <p:nvPr/>
        </p:nvSpPr>
        <p:spPr>
          <a:xfrm>
            <a:off x="9333509" y="39319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your approvals — later ones move the dates that depend on them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0A0C19"/>
          </a:solidFill>
          <a:ln w="12700">
            <a:solidFill>
              <a:srgbClr val="0A0C19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68680" y="5376672"/>
            <a:ext cx="548640" cy="548640"/>
          </a:xfrm>
          <a:prstGeom prst="ellipse">
            <a:avLst/>
          </a:prstGeom>
          <a:solidFill>
            <a:srgbClr val="0094FF"/>
          </a:solidFill>
          <a:ln w="12700">
            <a:solidFill>
              <a:srgbClr val="0094F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513832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45920" y="5248656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If something's stuck</a:t>
            </a:r>
            <a:endParaRPr lang="en-US" sz="22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0" y="5230368"/>
            <a:ext cx="679673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Raise it in your channel with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C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[Account Lead name]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Not sorted in 2 working days? Email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C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[Director name]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C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[email]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463040"/>
            <a:ext cx="3931920" cy="3931920"/>
          </a:xfrm>
          <a:prstGeom prst="ellipse">
            <a:avLst/>
          </a:prstGeom>
          <a:solidFill>
            <a:srgbClr val="0A0C19"/>
          </a:solidFill>
          <a:ln w="279400">
            <a:solidFill>
              <a:srgbClr val="1E24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463040"/>
            <a:ext cx="3931920" cy="3931920"/>
          </a:xfrm>
          <a:prstGeom prst="arc">
            <a:avLst>
              <a:gd name="adj1" fmla="val 8400000"/>
              <a:gd name="adj2" fmla="val 13200000"/>
            </a:avLst>
          </a:prstGeom>
          <a:solidFill>
            <a:srgbClr val="0A0C19">
              <a:alpha val="0"/>
            </a:srgbClr>
          </a:solidFill>
          <a:ln w="279400">
            <a:solidFill>
              <a:srgbClr val="0094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C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NEXT STEP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Accept your invite to #</a:t>
            </a:r>
            <a:pPr indent="0" marL="0">
              <a:buNone/>
            </a:pPr>
            <a:r>
              <a:rPr lang="en-US" sz="4800" dirty="0">
                <a:solidFill>
                  <a:srgbClr val="5CC6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[client]</a:t>
            </a:r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-opes.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in your inbox from </a:t>
            </a:r>
            <a:pPr indent="0" marL="0">
              <a:buNone/>
            </a:pPr>
            <a:r>
              <a:rPr lang="en-US" sz="1700" dirty="0">
                <a:solidFill>
                  <a:srgbClr val="5C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[Account Lead name]</a:t>
            </a:r>
            <a:pPr indent="0" marL="0">
              <a:buNone/>
            </a:pPr>
            <a:r>
              <a:rPr lang="en-US" sz="17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Once you're in, </a:t>
            </a:r>
            <a:pPr indent="0" marL="0">
              <a:buNone/>
            </a:pPr>
            <a:r>
              <a:rPr lang="en-US" sz="1700" dirty="0">
                <a:solidFill>
                  <a:srgbClr val="5CC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[Account Coordinator name]</a:t>
            </a:r>
            <a:pPr indent="0" marL="0">
              <a:buNone/>
            </a:pPr>
            <a:r>
              <a:rPr lang="en-US" sz="17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will send your access checklist — and that's everything for today.</a:t>
            </a:r>
            <a:endParaRPr lang="en-US" sz="1700" dirty="0"/>
          </a:p>
        </p:txBody>
      </p:sp>
      <p:pic>
        <p:nvPicPr>
          <p:cNvPr id="7" name="Image 0" descr="/home/claude/work/deck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0"/>
            <a:ext cx="1920240" cy="15305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697480" y="5870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opesconsulting.london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Opes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Opes</dc:title>
  <dc:subject>PptxGenJS Presentation</dc:subject>
  <dc:creator>Opes Consulting</dc:creator>
  <cp:lastModifiedBy>Opes Consulting</cp:lastModifiedBy>
  <cp:revision>1</cp:revision>
  <dcterms:created xsi:type="dcterms:W3CDTF">2026-09-11T17:06:17Z</dcterms:created>
  <dcterms:modified xsi:type="dcterms:W3CDTF">2026-09-11T17:06:17Z</dcterms:modified>
</cp:coreProperties>
</file>